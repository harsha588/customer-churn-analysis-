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customers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Retained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73.46</c:v>
                </c:pt>
                <c:pt idx="1">
                  <c:v>26.54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8FAF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36455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AEBCD1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pto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685800"/>
            <a:ext cx="1828800" cy="1828800"/>
          </a:xfrm>
          <a:prstGeom prst="ellipse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057400"/>
            <a:ext cx="1143000" cy="1143000"/>
          </a:xfrm>
          <a:prstGeom prst="ellipse">
            <a:avLst/>
          </a:prstGeom>
          <a:solidFill>
            <a:srgbClr val="58B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2926080"/>
            <a:ext cx="685800" cy="685800"/>
          </a:xfrm>
          <a:prstGeom prst="ellipse">
            <a:avLst/>
          </a:prstGeom>
          <a:solidFill>
            <a:srgbClr val="F57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3840480"/>
            <a:ext cx="502920" cy="502920"/>
          </a:xfrm>
          <a:prstGeom prst="ellipse">
            <a:avLst/>
          </a:prstGeom>
          <a:solidFill>
            <a:srgbClr val="F5B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7772400" cy="1645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8FAFD"/>
                </a:solidFill>
                <a:latin typeface="Aptos"/>
              </a:rPr>
              <a:t>CUSTOMER
CHURN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999232"/>
            <a:ext cx="70408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AEBCD1"/>
                </a:solidFill>
                <a:latin typeface="Aptos"/>
              </a:rPr>
              <a:t>Turning telecom customer data into retention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767328"/>
            <a:ext cx="6217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BEAA"/>
                </a:solidFill>
                <a:latin typeface="Aptos"/>
              </a:rPr>
              <a:t>SQL  •  Python EDA  •  Power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989320"/>
            <a:ext cx="4572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CD1"/>
                </a:solidFill>
                <a:latin typeface="Aptos"/>
              </a:rPr>
              <a:t>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6291072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EBCD1"/>
                </a:solidFill>
                <a:latin typeface="Aptos"/>
              </a:rPr>
              <a:t>GitHub: harsha588 / Customer-Churn-Analysis-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3BEAA"/>
                </a:solidFill>
                <a:latin typeface="Aptos"/>
              </a:rPr>
              <a:t>01 /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D"/>
                </a:solidFill>
                <a:latin typeface="Aptos"/>
              </a:rPr>
              <a:t>Executive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98448"/>
            <a:ext cx="68580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EBCD1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6070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EBCD1"/>
                </a:solidFill>
                <a:latin typeface="Aptos"/>
              </a:rPr>
              <a:t>The analysis investigates who is leaving, which patterns accompany churn, and where retention efforts could be focused.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2606040" cy="1600200"/>
          </a:xfrm>
          <a:prstGeom prst="roundRect">
            <a:avLst/>
          </a:prstGeom>
          <a:solidFill>
            <a:srgbClr val="1A2B48"/>
          </a:solidFill>
          <a:ln>
            <a:solidFill>
              <a:srgbClr val="34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651760"/>
            <a:ext cx="54864" cy="1271016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670048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EBCD1"/>
                </a:solidFill>
                <a:latin typeface="Aptos"/>
              </a:rPr>
              <a:t>CUSTOMERS ANALYSED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054096"/>
            <a:ext cx="22402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8FAFD"/>
                </a:solidFill>
                <a:latin typeface="Aptos"/>
              </a:rPr>
              <a:t>7,043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648456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EBCD1"/>
                </a:solidFill>
                <a:latin typeface="Aptos"/>
              </a:rPr>
              <a:t>IBM Telco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487168"/>
            <a:ext cx="2606040" cy="1600200"/>
          </a:xfrm>
          <a:prstGeom prst="roundRect">
            <a:avLst/>
          </a:prstGeom>
          <a:solidFill>
            <a:srgbClr val="1A2B48"/>
          </a:solidFill>
          <a:ln>
            <a:solidFill>
              <a:srgbClr val="34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6432" y="2651760"/>
            <a:ext cx="54864" cy="1271016"/>
          </a:xfrm>
          <a:prstGeom prst="rect">
            <a:avLst/>
          </a:prstGeom>
          <a:solidFill>
            <a:srgbClr val="F57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2670048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EBCD1"/>
                </a:solidFill>
                <a:latin typeface="Aptos"/>
              </a:rPr>
              <a:t>CHURNED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054096"/>
            <a:ext cx="22402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8FAFD"/>
                </a:solidFill>
                <a:latin typeface="Aptos"/>
              </a:rPr>
              <a:t>1,869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3648456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EBCD1"/>
                </a:solidFill>
                <a:latin typeface="Aptos"/>
              </a:rPr>
              <a:t>Customers marked as churned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487168"/>
            <a:ext cx="2606040" cy="1600200"/>
          </a:xfrm>
          <a:prstGeom prst="roundRect">
            <a:avLst/>
          </a:prstGeom>
          <a:solidFill>
            <a:srgbClr val="1A2B48"/>
          </a:solidFill>
          <a:ln>
            <a:solidFill>
              <a:srgbClr val="34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7064" y="2651760"/>
            <a:ext cx="54864" cy="1271016"/>
          </a:xfrm>
          <a:prstGeom prst="rect">
            <a:avLst/>
          </a:prstGeom>
          <a:solidFill>
            <a:srgbClr val="F5B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670048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EBCD1"/>
                </a:solidFill>
                <a:latin typeface="Aptos"/>
              </a:rPr>
              <a:t>CHURN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54096"/>
            <a:ext cx="22402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8FAFD"/>
                </a:solidFill>
                <a:latin typeface="Aptos"/>
              </a:rPr>
              <a:t>26.54%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48456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EBCD1"/>
                </a:solidFill>
                <a:latin typeface="Aptos"/>
              </a:rPr>
              <a:t>Approximately 1 in 4 customers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0264" y="2487168"/>
            <a:ext cx="2560320" cy="1600200"/>
          </a:xfrm>
          <a:prstGeom prst="roundRect">
            <a:avLst/>
          </a:prstGeom>
          <a:solidFill>
            <a:srgbClr val="1A2B48"/>
          </a:solidFill>
          <a:ln>
            <a:solidFill>
              <a:srgbClr val="34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97696" y="2651760"/>
            <a:ext cx="54864" cy="1271016"/>
          </a:xfrm>
          <a:prstGeom prst="rect">
            <a:avLst/>
          </a:prstGeom>
          <a:solidFill>
            <a:srgbClr val="53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1432" y="2670048"/>
            <a:ext cx="2194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EBCD1"/>
                </a:solidFill>
                <a:latin typeface="Aptos"/>
              </a:rPr>
              <a:t>RETENTION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3054096"/>
            <a:ext cx="21945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8FAFD"/>
                </a:solidFill>
                <a:latin typeface="Aptos"/>
              </a:rPr>
              <a:t>73.46%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3648456"/>
            <a:ext cx="2194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EBCD1"/>
                </a:solidFill>
                <a:latin typeface="Aptos"/>
              </a:rPr>
              <a:t>Customers retained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80060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BEAA"/>
                </a:solidFill>
                <a:latin typeface="Aptos"/>
              </a:rPr>
              <a:t>Business 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166360"/>
            <a:ext cx="106070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8FAFD"/>
                </a:solidFill>
                <a:latin typeface="Aptos"/>
              </a:rPr>
              <a:t>A substantial minority of customers churned. Segment-level analysis helps prioritize investigation instead of treating all customers the same.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CD1"/>
                </a:solidFill>
                <a:latin typeface="Aptos"/>
              </a:rPr>
              <a:t>Customer Churn Analysis  •  SQL + Python + Power 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3BEAA"/>
                </a:solidFill>
                <a:latin typeface="Aptos"/>
              </a:rPr>
              <a:t>02 / WHY CHURN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D"/>
                </a:solidFill>
                <a:latin typeface="Aptos"/>
              </a:rPr>
              <a:t>The business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98448"/>
            <a:ext cx="68580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EBCD1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6070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8FAFD"/>
                </a:solidFill>
                <a:latin typeface="Aptos"/>
              </a:rPr>
              <a:t>Customer churn can weaken recurring revenue and increase the effort needed to replace lost customers.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743200"/>
            <a:ext cx="3154680" cy="2194560"/>
          </a:xfrm>
          <a:prstGeom prst="roundRect">
            <a:avLst/>
          </a:prstGeom>
          <a:solidFill>
            <a:srgbClr val="1A2B48"/>
          </a:solidFill>
          <a:ln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44368"/>
            <a:ext cx="7315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23BEAA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93008"/>
            <a:ext cx="2651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8FAFD"/>
                </a:solidFill>
                <a:latin typeface="Aptos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41648"/>
            <a:ext cx="26974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EBCD1"/>
                </a:solidFill>
                <a:latin typeface="Aptos"/>
              </a:rPr>
              <a:t>Quantify churn and retention across the full customer 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743200"/>
            <a:ext cx="3154680" cy="2194560"/>
          </a:xfrm>
          <a:prstGeom prst="roundRect">
            <a:avLst/>
          </a:prstGeom>
          <a:solidFill>
            <a:srgbClr val="1A2B48"/>
          </a:solidFill>
          <a:ln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2944368"/>
            <a:ext cx="7315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58BEE1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3493008"/>
            <a:ext cx="2651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8FAFD"/>
                </a:solidFill>
                <a:latin typeface="Aptos"/>
              </a:rPr>
              <a:t>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4041648"/>
            <a:ext cx="26974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EBCD1"/>
                </a:solidFill>
                <a:latin typeface="Aptos"/>
              </a:rPr>
              <a:t>Compare churn patterns by contract, tenure, services and customer value.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90688" y="2743200"/>
            <a:ext cx="3154680" cy="2194560"/>
          </a:xfrm>
          <a:prstGeom prst="roundRect">
            <a:avLst/>
          </a:prstGeom>
          <a:solidFill>
            <a:srgbClr val="1A2B48"/>
          </a:solidFill>
          <a:ln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1856" y="2944368"/>
            <a:ext cx="7315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5BE5B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3493008"/>
            <a:ext cx="2651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8FAFD"/>
                </a:solidFill>
                <a:latin typeface="Aptos"/>
              </a:rPr>
              <a:t>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1856" y="4041648"/>
            <a:ext cx="26974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EBCD1"/>
                </a:solidFill>
                <a:latin typeface="Aptos"/>
              </a:rPr>
              <a:t>Turn observed patterns and reported reasons into retention priorities.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23560"/>
            <a:ext cx="105156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3BEAA"/>
                </a:solidFill>
                <a:latin typeface="Aptos"/>
              </a:rPr>
              <a:t>Guiding question: What patterns are associated with customers leaving?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CD1"/>
                </a:solidFill>
                <a:latin typeface="Aptos"/>
              </a:rPr>
              <a:t>Customer Churn Analysis  •  SQL + Python +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3BEAA"/>
                </a:solidFill>
                <a:latin typeface="Aptos"/>
              </a:rPr>
              <a:t>03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D"/>
                </a:solidFill>
                <a:latin typeface="Aptos"/>
              </a:rPr>
              <a:t>Dataset &amp; analytical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98448"/>
            <a:ext cx="68580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EBCD1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601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3BEAA"/>
                </a:solidFill>
                <a:latin typeface="Aptos"/>
              </a:rPr>
              <a:t>Source: IBM Telco Customer Churn dataset (via Kaggle)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45720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8FAFD"/>
                </a:solidFill>
                <a:latin typeface="Aptos"/>
              </a:rPr>
              <a:t>7,043 customer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43200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AEBCD1"/>
                </a:solidFill>
                <a:latin typeface="Aptos"/>
              </a:rPr>
              <a:t>Fields used across the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46120"/>
            <a:ext cx="1965960" cy="411480"/>
          </a:xfrm>
          <a:prstGeom prst="roundRect">
            <a:avLst/>
          </a:prstGeom>
          <a:solidFill>
            <a:srgbClr val="223A57"/>
          </a:solidFill>
          <a:ln>
            <a:solidFill>
              <a:srgbClr val="375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3319272"/>
            <a:ext cx="18196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8FAFD"/>
                </a:solidFill>
                <a:latin typeface="Aptos"/>
              </a:rPr>
              <a:t>Demographics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2" y="3246120"/>
            <a:ext cx="1325880" cy="411480"/>
          </a:xfrm>
          <a:prstGeom prst="roundRect">
            <a:avLst/>
          </a:prstGeom>
          <a:solidFill>
            <a:srgbClr val="223A57"/>
          </a:solidFill>
          <a:ln>
            <a:solidFill>
              <a:srgbClr val="375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9504" y="3319272"/>
            <a:ext cx="11795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8FAFD"/>
                </a:solidFill>
                <a:latin typeface="Aptos"/>
              </a:rPr>
              <a:t>Tenure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3246120"/>
            <a:ext cx="1508760" cy="411480"/>
          </a:xfrm>
          <a:prstGeom prst="roundRect">
            <a:avLst/>
          </a:prstGeom>
          <a:solidFill>
            <a:srgbClr val="223A57"/>
          </a:solidFill>
          <a:ln>
            <a:solidFill>
              <a:srgbClr val="375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3319272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8FAFD"/>
                </a:solidFill>
                <a:latin typeface="Aptos"/>
              </a:rPr>
              <a:t>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858768"/>
            <a:ext cx="1508760" cy="411480"/>
          </a:xfrm>
          <a:prstGeom prst="roundRect">
            <a:avLst/>
          </a:prstGeom>
          <a:solidFill>
            <a:srgbClr val="223A57"/>
          </a:solidFill>
          <a:ln>
            <a:solidFill>
              <a:srgbClr val="375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931920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8FAFD"/>
                </a:solidFill>
                <a:latin typeface="Aptos"/>
              </a:rPr>
              <a:t>Contracts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59152" y="3858768"/>
            <a:ext cx="2011680" cy="411480"/>
          </a:xfrm>
          <a:prstGeom prst="roundRect">
            <a:avLst/>
          </a:prstGeom>
          <a:solidFill>
            <a:srgbClr val="223A57"/>
          </a:solidFill>
          <a:ln>
            <a:solidFill>
              <a:srgbClr val="375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2304" y="3931920"/>
            <a:ext cx="18653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8FAFD"/>
                </a:solidFill>
                <a:latin typeface="Aptos"/>
              </a:rPr>
              <a:t>Billing &amp; charges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07992" y="3858768"/>
            <a:ext cx="1097280" cy="411480"/>
          </a:xfrm>
          <a:prstGeom prst="roundRect">
            <a:avLst/>
          </a:prstGeom>
          <a:solidFill>
            <a:srgbClr val="223A57"/>
          </a:solidFill>
          <a:ln>
            <a:solidFill>
              <a:srgbClr val="375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1144" y="3931920"/>
            <a:ext cx="9509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8FAFD"/>
                </a:solidFill>
                <a:latin typeface="Aptos"/>
              </a:rPr>
              <a:t>CLTV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471416"/>
            <a:ext cx="2880360" cy="411480"/>
          </a:xfrm>
          <a:prstGeom prst="roundRect">
            <a:avLst/>
          </a:prstGeom>
          <a:solidFill>
            <a:srgbClr val="223A57"/>
          </a:solidFill>
          <a:ln>
            <a:solidFill>
              <a:srgbClr val="375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544568"/>
            <a:ext cx="27340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8FAFD"/>
                </a:solidFill>
                <a:latin typeface="Aptos"/>
              </a:rPr>
              <a:t>Churn status &amp; reasons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1920240"/>
            <a:ext cx="4800600" cy="3154680"/>
          </a:xfrm>
          <a:prstGeom prst="roundRect">
            <a:avLst/>
          </a:prstGeom>
          <a:solidFill>
            <a:srgbClr val="1A2B48"/>
          </a:solidFill>
          <a:ln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2212848"/>
            <a:ext cx="4023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D"/>
                </a:solidFill>
                <a:latin typeface="Aptos"/>
              </a:rPr>
              <a:t>Questions explored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2697480"/>
            <a:ext cx="4069080" cy="2057400"/>
          </a:xfrm>
          <a:prstGeom prst="rect">
            <a:avLst/>
          </a:prstGeom>
          <a:noFill/>
        </p:spPr>
        <p:txBody>
          <a:bodyPr wrap="square" lIns="36576" rIns="45720" tIns="18288" b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EBCD1"/>
                </a:solidFill>
                <a:latin typeface="Aptos"/>
              </a:defRPr>
            </a:pPr>
            <a:r>
              <a:t>How large is churn overall?</a:t>
            </a:r>
          </a:p>
          <a:p>
            <a:pPr>
              <a:spcAft>
                <a:spcPts val="800"/>
              </a:spcAft>
              <a:defRPr sz="1300">
                <a:solidFill>
                  <a:srgbClr val="AEBCD1"/>
                </a:solidFill>
                <a:latin typeface="Aptos"/>
              </a:defRPr>
            </a:pPr>
            <a:r>
              <a:t>Which customer segments show different churn rates?</a:t>
            </a:r>
          </a:p>
          <a:p>
            <a:pPr>
              <a:spcAft>
                <a:spcPts val="800"/>
              </a:spcAft>
              <a:defRPr sz="1300">
                <a:solidFill>
                  <a:srgbClr val="AEBCD1"/>
                </a:solidFill>
                <a:latin typeface="Aptos"/>
              </a:defRPr>
            </a:pPr>
            <a:r>
              <a:t>How do tenure, contracts and services relate to churn?</a:t>
            </a:r>
          </a:p>
          <a:p>
            <a:pPr>
              <a:spcAft>
                <a:spcPts val="800"/>
              </a:spcAft>
              <a:defRPr sz="1300">
                <a:solidFill>
                  <a:srgbClr val="AEBCD1"/>
                </a:solidFill>
                <a:latin typeface="Aptos"/>
              </a:defRPr>
            </a:pPr>
            <a:r>
              <a:t>What reasons do churned customers report?</a:t>
            </a:r>
          </a:p>
          <a:p>
            <a:pPr>
              <a:spcAft>
                <a:spcPts val="800"/>
              </a:spcAft>
              <a:defRPr sz="1300">
                <a:solidFill>
                  <a:srgbClr val="AEBCD1"/>
                </a:solidFill>
                <a:latin typeface="Aptos"/>
              </a:defRPr>
            </a:pPr>
            <a:r>
              <a:t>How should high-value customers be monitored?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23560"/>
            <a:ext cx="10789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BE5B"/>
                </a:solidFill>
                <a:latin typeface="Aptos"/>
              </a:rPr>
              <a:t>This is descriptive analysis: observed relationships do not prove causation.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CD1"/>
                </a:solidFill>
                <a:latin typeface="Aptos"/>
              </a:rPr>
              <a:t>Customer Churn Analysis  •  SQL + Python + Power 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3BEAA"/>
                </a:solidFill>
                <a:latin typeface="Aptos"/>
              </a:rPr>
              <a:t>04 /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D"/>
                </a:solidFill>
                <a:latin typeface="Aptos"/>
              </a:rPr>
              <a:t>End-to-end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98448"/>
            <a:ext cx="68580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EBCD1"/>
                </a:solidFill>
                <a:latin typeface="Aptos"/>
              </a:rP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1161288" y="1874519"/>
            <a:ext cx="640080" cy="640080"/>
          </a:xfrm>
          <a:prstGeom prst="ellipse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039112"/>
            <a:ext cx="640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11D35"/>
                </a:solidFill>
                <a:latin typeface="Aptos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1368" y="2157984"/>
            <a:ext cx="1170432" cy="45720"/>
          </a:xfrm>
          <a:prstGeom prst="rect">
            <a:avLst/>
          </a:prstGeom>
          <a:solidFill>
            <a:srgbClr val="43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8FAFD"/>
                </a:solidFill>
                <a:latin typeface="Aptos"/>
              </a:rPr>
              <a:t>Prepare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3246120"/>
            <a:ext cx="1938528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AEBCD1"/>
                </a:solidFill>
                <a:latin typeface="Aptos"/>
              </a:rPr>
              <a:t>Check nulls, duplicates, labels and fields</a:t>
            </a:r>
          </a:p>
        </p:txBody>
      </p:sp>
      <p:sp>
        <p:nvSpPr>
          <p:cNvPr id="11" name="Oval 10"/>
          <p:cNvSpPr/>
          <p:nvPr/>
        </p:nvSpPr>
        <p:spPr>
          <a:xfrm>
            <a:off x="3465576" y="1874519"/>
            <a:ext cx="640080" cy="640080"/>
          </a:xfrm>
          <a:prstGeom prst="ellipse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5576" y="2039112"/>
            <a:ext cx="640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11D35"/>
                </a:solidFill>
                <a:latin typeface="Aptos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05656" y="2157984"/>
            <a:ext cx="1170432" cy="45720"/>
          </a:xfrm>
          <a:prstGeom prst="rect">
            <a:avLst/>
          </a:prstGeom>
          <a:solidFill>
            <a:srgbClr val="43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743200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8FAFD"/>
                </a:solidFill>
                <a:latin typeface="Aptos"/>
              </a:rPr>
              <a:t>SQL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5224" y="3246120"/>
            <a:ext cx="1938528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AEBCD1"/>
                </a:solidFill>
                <a:latin typeface="Aptos"/>
              </a:rPr>
              <a:t>Answer business questions and calculate KPIs</a:t>
            </a:r>
          </a:p>
        </p:txBody>
      </p:sp>
      <p:sp>
        <p:nvSpPr>
          <p:cNvPr id="16" name="Oval 15"/>
          <p:cNvSpPr/>
          <p:nvPr/>
        </p:nvSpPr>
        <p:spPr>
          <a:xfrm>
            <a:off x="5769864" y="1874519"/>
            <a:ext cx="640080" cy="640080"/>
          </a:xfrm>
          <a:prstGeom prst="ellipse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9864" y="2039112"/>
            <a:ext cx="640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11D35"/>
                </a:solidFill>
                <a:latin typeface="Aptos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9944" y="2157984"/>
            <a:ext cx="1170432" cy="45720"/>
          </a:xfrm>
          <a:prstGeom prst="rect">
            <a:avLst/>
          </a:prstGeom>
          <a:solidFill>
            <a:srgbClr val="43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94376" y="2743200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8FAFD"/>
                </a:solidFill>
                <a:latin typeface="Aptos"/>
              </a:rPr>
              <a:t>Python EDA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3246120"/>
            <a:ext cx="1938528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AEBCD1"/>
                </a:solidFill>
                <a:latin typeface="Aptos"/>
              </a:rPr>
              <a:t>Explore distributions, categories and numeric relationships</a:t>
            </a:r>
          </a:p>
        </p:txBody>
      </p:sp>
      <p:sp>
        <p:nvSpPr>
          <p:cNvPr id="21" name="Oval 20"/>
          <p:cNvSpPr/>
          <p:nvPr/>
        </p:nvSpPr>
        <p:spPr>
          <a:xfrm>
            <a:off x="8074152" y="1874519"/>
            <a:ext cx="640080" cy="640080"/>
          </a:xfrm>
          <a:prstGeom prst="ellipse">
            <a:avLst/>
          </a:prstGeom>
          <a:solidFill>
            <a:srgbClr val="58B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4152" y="2039112"/>
            <a:ext cx="640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11D35"/>
                </a:solidFill>
                <a:latin typeface="Aptos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14232" y="2157984"/>
            <a:ext cx="1170432" cy="45720"/>
          </a:xfrm>
          <a:prstGeom prst="rect">
            <a:avLst/>
          </a:prstGeom>
          <a:solidFill>
            <a:srgbClr val="43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98664" y="2743200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8FAFD"/>
                </a:solidFill>
                <a:latin typeface="Aptos"/>
              </a:rPr>
              <a:t>Power BI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3246120"/>
            <a:ext cx="1938528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AEBCD1"/>
                </a:solidFill>
                <a:latin typeface="Aptos"/>
              </a:rPr>
              <a:t>Present key metrics and segment comparisons</a:t>
            </a:r>
          </a:p>
        </p:txBody>
      </p:sp>
      <p:sp>
        <p:nvSpPr>
          <p:cNvPr id="26" name="Oval 25"/>
          <p:cNvSpPr/>
          <p:nvPr/>
        </p:nvSpPr>
        <p:spPr>
          <a:xfrm>
            <a:off x="10378440" y="1874519"/>
            <a:ext cx="640080" cy="640080"/>
          </a:xfrm>
          <a:prstGeom prst="ellipse">
            <a:avLst/>
          </a:prstGeom>
          <a:solidFill>
            <a:srgbClr val="58B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78440" y="2039112"/>
            <a:ext cx="640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11D35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2952" y="2743200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8FAFD"/>
                </a:solidFill>
                <a:latin typeface="Aptos"/>
              </a:rPr>
              <a:t>Recommend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8088" y="3246120"/>
            <a:ext cx="1938528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AEBCD1"/>
                </a:solidFill>
                <a:latin typeface="Aptos"/>
              </a:rPr>
              <a:t>Translate findings into retention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74920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BEAA"/>
                </a:solidFill>
                <a:latin typeface="Aptos"/>
              </a:rPr>
              <a:t>Tools: MySQL • Python (Pandas, NumPy, Matplotlib, Seaborn) • Power BI • Excel • GitHub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CD1"/>
                </a:solidFill>
                <a:latin typeface="Aptos"/>
              </a:rPr>
              <a:t>Customer Churn Analysis  •  SQL + Python + Power BI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3BEAA"/>
                </a:solidFill>
                <a:latin typeface="Aptos"/>
              </a:rPr>
              <a:t>05 / ANALYSIS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D"/>
                </a:solidFill>
                <a:latin typeface="Aptos"/>
              </a:rPr>
              <a:t>SQL: from data to business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98448"/>
            <a:ext cx="68580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EBCD1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8755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AFD"/>
                </a:solidFill>
                <a:latin typeface="Aptos"/>
              </a:rPr>
              <a:t>The SQL work is organized around five analysis objectives.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502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3BEAA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48840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AFD"/>
                </a:solidFill>
                <a:latin typeface="Aptos"/>
              </a:rPr>
              <a:t>Overall churn &amp; retention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148840"/>
            <a:ext cx="704088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EBCD1"/>
                </a:solidFill>
                <a:latin typeface="Aptos"/>
              </a:rPr>
              <a:t>Counts, churn rate, retention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2624328"/>
            <a:ext cx="9646920" cy="10972"/>
          </a:xfrm>
          <a:prstGeom prst="rect">
            <a:avLst/>
          </a:prstGeom>
          <a:solidFill>
            <a:srgbClr val="314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62072"/>
            <a:ext cx="502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3BEAA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862072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AFD"/>
                </a:solidFill>
                <a:latin typeface="Aptos"/>
              </a:rPr>
              <a:t>Customer segments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862072"/>
            <a:ext cx="704088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EBCD1"/>
                </a:solidFill>
                <a:latin typeface="Aptos"/>
              </a:rPr>
              <a:t>Gender, senior-citizen, partner and dependent 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3337560"/>
            <a:ext cx="9646920" cy="10972"/>
          </a:xfrm>
          <a:prstGeom prst="rect">
            <a:avLst/>
          </a:prstGeom>
          <a:solidFill>
            <a:srgbClr val="314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75304"/>
            <a:ext cx="502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3BEAA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575304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AFD"/>
                </a:solidFill>
                <a:latin typeface="Aptos"/>
              </a:rPr>
              <a:t>Tenure, contract &amp;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575304"/>
            <a:ext cx="704088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EBCD1"/>
                </a:solidFill>
                <a:latin typeface="Aptos"/>
              </a:rPr>
              <a:t>Tenure groups, contract types, Internet service, support and security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4050791"/>
            <a:ext cx="9646920" cy="10972"/>
          </a:xfrm>
          <a:prstGeom prst="rect">
            <a:avLst/>
          </a:prstGeom>
          <a:solidFill>
            <a:srgbClr val="314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88536"/>
            <a:ext cx="502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3BEAA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288536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AFD"/>
                </a:solidFill>
                <a:latin typeface="Aptos"/>
              </a:rPr>
              <a:t>Charges, billing &amp;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288536"/>
            <a:ext cx="704088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EBCD1"/>
                </a:solidFill>
                <a:latin typeface="Aptos"/>
              </a:rPr>
              <a:t>Monthly charges, paperless billing, CLTV and high-value segments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" y="4764023"/>
            <a:ext cx="9646920" cy="10972"/>
          </a:xfrm>
          <a:prstGeom prst="rect">
            <a:avLst/>
          </a:prstGeom>
          <a:solidFill>
            <a:srgbClr val="314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01768"/>
            <a:ext cx="502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3BEAA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001768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AFD"/>
                </a:solidFill>
                <a:latin typeface="Aptos"/>
              </a:rPr>
              <a:t>Churn reasons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5001768"/>
            <a:ext cx="704088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EBCD1"/>
                </a:solidFill>
                <a:latin typeface="Aptos"/>
              </a:rPr>
              <a:t>Most common reported reasons and their proportions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925312"/>
            <a:ext cx="10698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BE5B"/>
                </a:solidFill>
                <a:latin typeface="Aptos"/>
              </a:rPr>
              <a:t>SQL output: validated KPIs and segment-level comparisons that inform the dashboard.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CD1"/>
                </a:solidFill>
                <a:latin typeface="Aptos"/>
              </a:rPr>
              <a:t>Customer Churn Analysis  •  SQL + Python + Power BI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3BEAA"/>
                </a:solidFill>
                <a:latin typeface="Aptos"/>
              </a:rPr>
              <a:t>06 / OVERALL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D"/>
                </a:solidFill>
                <a:latin typeface="Aptos"/>
              </a:rPr>
              <a:t>Baseline: churn vs retention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98448"/>
            <a:ext cx="68580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EBCD1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EBCD1"/>
                </a:solidFill>
                <a:latin typeface="Aptos"/>
              </a:rPr>
              <a:t>Most customers remained, but more than one in four left during the period represented by the dataset.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2331720"/>
          <a:ext cx="66294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3BEAA"/>
                </a:solidFill>
                <a:latin typeface="Aptos"/>
              </a:rPr>
              <a:t>06 / OVERALL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D"/>
                </a:solidFill>
                <a:latin typeface="Aptos"/>
              </a:rPr>
              <a:t>Baseline: churn vs retention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98448"/>
            <a:ext cx="68580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EBCD1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EBCD1"/>
                </a:solidFill>
                <a:latin typeface="Aptos"/>
              </a:rPr>
              <a:t>Most customers remained, but more than one in four left during the period represented by the dataset.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24328"/>
            <a:ext cx="12984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AFD"/>
                </a:solidFill>
                <a:latin typeface="Aptos"/>
              </a:rPr>
              <a:t>Retained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2638044"/>
            <a:ext cx="4434840" cy="219456"/>
          </a:xfrm>
          <a:prstGeom prst="roundRect">
            <a:avLst/>
          </a:prstGeom>
          <a:solidFill>
            <a:srgbClr val="2B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94560" y="2638044"/>
            <a:ext cx="4072291" cy="219456"/>
          </a:xfrm>
          <a:prstGeom prst="round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2606040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8FAFD"/>
                </a:solidFill>
                <a:latin typeface="Aptos"/>
              </a:rPr>
              <a:t>73.46%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38728"/>
            <a:ext cx="12984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AFD"/>
                </a:solidFill>
                <a:latin typeface="Aptos"/>
              </a:rPr>
              <a:t>Churned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3552444"/>
            <a:ext cx="4434840" cy="219456"/>
          </a:xfrm>
          <a:prstGeom prst="roundRect">
            <a:avLst/>
          </a:prstGeom>
          <a:solidFill>
            <a:srgbClr val="2B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94560" y="3552444"/>
            <a:ext cx="1471258" cy="219456"/>
          </a:xfrm>
          <a:prstGeom prst="round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2552" y="3520440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8FAFD"/>
                </a:solidFill>
                <a:latin typeface="Aptos"/>
              </a:rPr>
              <a:t>26.54%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2331720"/>
            <a:ext cx="3429000" cy="1234440"/>
          </a:xfrm>
          <a:prstGeom prst="roundRect">
            <a:avLst/>
          </a:prstGeom>
          <a:solidFill>
            <a:srgbClr val="1A2B48"/>
          </a:solidFill>
          <a:ln>
            <a:solidFill>
              <a:srgbClr val="34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2496312"/>
            <a:ext cx="54864" cy="905256"/>
          </a:xfrm>
          <a:prstGeom prst="rect">
            <a:avLst/>
          </a:prstGeom>
          <a:solidFill>
            <a:srgbClr val="53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2514600"/>
            <a:ext cx="3063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EBCD1"/>
                </a:solidFill>
                <a:latin typeface="Aptos"/>
              </a:rPr>
              <a:t>RETAINED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2898648"/>
            <a:ext cx="3063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8FAFD"/>
                </a:solidFill>
                <a:latin typeface="Aptos"/>
              </a:rPr>
              <a:t>5,174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8" y="3127248"/>
            <a:ext cx="3063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EBCD1"/>
                </a:solidFill>
                <a:latin typeface="Aptos"/>
              </a:rPr>
              <a:t>73.46% of customers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3794760"/>
            <a:ext cx="3429000" cy="1234440"/>
          </a:xfrm>
          <a:prstGeom prst="roundRect">
            <a:avLst/>
          </a:prstGeom>
          <a:solidFill>
            <a:srgbClr val="1A2B48"/>
          </a:solidFill>
          <a:ln>
            <a:solidFill>
              <a:srgbClr val="34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71231" y="3959352"/>
            <a:ext cx="54864" cy="905256"/>
          </a:xfrm>
          <a:prstGeom prst="rect">
            <a:avLst/>
          </a:prstGeom>
          <a:solidFill>
            <a:srgbClr val="F57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4968" y="3977640"/>
            <a:ext cx="3063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EBCD1"/>
                </a:solidFill>
                <a:latin typeface="Aptos"/>
              </a:rPr>
              <a:t>CHURNED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8" y="4361688"/>
            <a:ext cx="3063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8FAFD"/>
                </a:solidFill>
                <a:latin typeface="Aptos"/>
              </a:rPr>
              <a:t>1,869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4590288"/>
            <a:ext cx="3063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EBCD1"/>
                </a:solidFill>
                <a:latin typeface="Aptos"/>
              </a:rPr>
              <a:t>26.54% of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2356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8FAFD"/>
                </a:solidFill>
                <a:latin typeface="Aptos"/>
              </a:rPr>
              <a:t>Interpretation: the overall rate sets the baseline; next locate segments with notably higher churn.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CD1"/>
                </a:solidFill>
                <a:latin typeface="Aptos"/>
              </a:rPr>
              <a:t>Customer Churn Analysis  •  SQL + Python + Power BI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3BEAA"/>
                </a:solidFill>
                <a:latin typeface="Aptos"/>
              </a:rPr>
              <a:t>07 / KEY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D"/>
                </a:solidFill>
                <a:latin typeface="Aptos"/>
              </a:rPr>
              <a:t>Finding 1: contract type stands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98448"/>
            <a:ext cx="68580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EBCD1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5486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AEBCD1"/>
                </a:solidFill>
                <a:latin typeface="Aptos"/>
              </a:rPr>
              <a:t>Observed churn rate by contract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58568"/>
            <a:ext cx="12984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AFD"/>
                </a:solidFill>
                <a:latin typeface="Aptos"/>
              </a:rPr>
              <a:t>Month-to-month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2272284"/>
            <a:ext cx="4892040" cy="219456"/>
          </a:xfrm>
          <a:prstGeom prst="roundRect">
            <a:avLst/>
          </a:prstGeom>
          <a:solidFill>
            <a:srgbClr val="2B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48840" y="2272284"/>
            <a:ext cx="4178780" cy="219456"/>
          </a:xfrm>
          <a:prstGeom prst="roundRect">
            <a:avLst/>
          </a:prstGeom>
          <a:solidFill>
            <a:srgbClr val="F57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4031" y="2240280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8FAFD"/>
                </a:solidFill>
                <a:latin typeface="Aptos"/>
              </a:rPr>
              <a:t>42.71%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81528"/>
            <a:ext cx="12984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AFD"/>
                </a:solidFill>
                <a:latin typeface="Aptos"/>
              </a:rPr>
              <a:t>One year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3095244"/>
            <a:ext cx="4892040" cy="219456"/>
          </a:xfrm>
          <a:prstGeom prst="roundRect">
            <a:avLst/>
          </a:prstGeom>
          <a:solidFill>
            <a:srgbClr val="2B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48840" y="3095244"/>
            <a:ext cx="1102665" cy="219456"/>
          </a:xfrm>
          <a:prstGeom prst="roundRect">
            <a:avLst/>
          </a:prstGeom>
          <a:solidFill>
            <a:srgbClr val="F57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4031" y="3063240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8FAFD"/>
                </a:solidFill>
                <a:latin typeface="Aptos"/>
              </a:rPr>
              <a:t>11.27%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04488"/>
            <a:ext cx="12984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AFD"/>
                </a:solidFill>
                <a:latin typeface="Aptos"/>
              </a:rPr>
              <a:t>Two year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48840" y="3918204"/>
            <a:ext cx="4892040" cy="219456"/>
          </a:xfrm>
          <a:prstGeom prst="roundRect">
            <a:avLst/>
          </a:prstGeom>
          <a:solidFill>
            <a:srgbClr val="2B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48840" y="3918204"/>
            <a:ext cx="276889" cy="219456"/>
          </a:xfrm>
          <a:prstGeom prst="roundRect">
            <a:avLst/>
          </a:prstGeom>
          <a:solidFill>
            <a:srgbClr val="F57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4031" y="3886200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8FAFD"/>
                </a:solidFill>
                <a:latin typeface="Aptos"/>
              </a:rPr>
              <a:t>2.83%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240280"/>
            <a:ext cx="29260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57071"/>
                </a:solidFill>
                <a:latin typeface="Aptos"/>
              </a:rPr>
              <a:t>42.71%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907792"/>
            <a:ext cx="32004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AFD"/>
                </a:solidFill>
                <a:latin typeface="Aptos"/>
              </a:rPr>
              <a:t>Month-to-month churn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6992" y="3794760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BEAA"/>
                </a:solidFill>
                <a:latin typeface="Aptos"/>
              </a:rPr>
              <a:t>Retention opportunity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4160520"/>
            <a:ext cx="315468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EBCD1"/>
                </a:solidFill>
                <a:latin typeface="Aptos"/>
              </a:rPr>
              <a:t>Investigate pricing, service experience and whether suitable longer-term plans offer value.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97880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BE5B"/>
                </a:solidFill>
                <a:latin typeface="Aptos"/>
              </a:rPr>
              <a:t>Rates show association, not proof that contract type alone causes churn.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CD1"/>
                </a:solidFill>
                <a:latin typeface="Aptos"/>
              </a:rPr>
              <a:t>Customer Churn Analysis  •  SQL + Python + Power BI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3BEAA"/>
                </a:solidFill>
                <a:latin typeface="Aptos"/>
              </a:rPr>
              <a:t>08 / KEY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D"/>
                </a:solidFill>
                <a:latin typeface="Aptos"/>
              </a:rPr>
              <a:t>Finding 2: early tenure &amp; fiber customers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98448"/>
            <a:ext cx="68580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EBCD1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AEBCD1"/>
                </a:solidFill>
                <a:latin typeface="Aptos"/>
              </a:rPr>
              <a:t>Observed churn rate by customer tenure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67128"/>
            <a:ext cx="12984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AFD"/>
                </a:solidFill>
                <a:latin typeface="Aptos"/>
              </a:rPr>
              <a:t>0–12 months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0552" y="2180844"/>
            <a:ext cx="3383279" cy="219456"/>
          </a:xfrm>
          <a:prstGeom prst="roundRect">
            <a:avLst/>
          </a:prstGeom>
          <a:solidFill>
            <a:srgbClr val="2B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30552" y="2180844"/>
            <a:ext cx="2918232" cy="219456"/>
          </a:xfrm>
          <a:prstGeom prst="roundRect">
            <a:avLst/>
          </a:prstGeom>
          <a:solidFill>
            <a:srgbClr val="F5B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86983" y="2148840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8FAFD"/>
                </a:solidFill>
                <a:latin typeface="Aptos"/>
              </a:rPr>
              <a:t>47.44%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310128"/>
            <a:ext cx="12984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AFD"/>
                </a:solidFill>
                <a:latin typeface="Aptos"/>
              </a:rPr>
              <a:t>49+ months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30552" y="3323844"/>
            <a:ext cx="3383279" cy="219456"/>
          </a:xfrm>
          <a:prstGeom prst="roundRect">
            <a:avLst/>
          </a:prstGeom>
          <a:solidFill>
            <a:srgbClr val="2B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30552" y="3323844"/>
            <a:ext cx="584999" cy="219456"/>
          </a:xfrm>
          <a:prstGeom prst="roundRect">
            <a:avLst/>
          </a:prstGeom>
          <a:solidFill>
            <a:srgbClr val="F5B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86983" y="3291840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8FAFD"/>
                </a:solidFill>
                <a:latin typeface="Aptos"/>
              </a:rPr>
              <a:t>9.51%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572768"/>
            <a:ext cx="5303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AEBCD1"/>
                </a:solidFill>
                <a:latin typeface="Aptos"/>
              </a:rPr>
              <a:t>Observed churn rate by Internet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167128"/>
            <a:ext cx="12984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AFD"/>
                </a:solidFill>
                <a:latin typeface="Aptos"/>
              </a:rPr>
              <a:t>Fiber optic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180844"/>
            <a:ext cx="3520440" cy="219456"/>
          </a:xfrm>
          <a:prstGeom prst="roundRect">
            <a:avLst/>
          </a:prstGeom>
          <a:solidFill>
            <a:srgbClr val="2B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0" y="2180844"/>
            <a:ext cx="2949424" cy="219456"/>
          </a:xfrm>
          <a:prstGeom prst="roundRect">
            <a:avLst/>
          </a:prstGeom>
          <a:solidFill>
            <a:srgbClr val="58B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83112" y="2148840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8FAFD"/>
                </a:solidFill>
                <a:latin typeface="Aptos"/>
              </a:rPr>
              <a:t>41.89%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990088"/>
            <a:ext cx="12984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AFD"/>
                </a:solidFill>
                <a:latin typeface="Aptos"/>
              </a:rPr>
              <a:t>DSL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3003804"/>
            <a:ext cx="3520440" cy="219456"/>
          </a:xfrm>
          <a:prstGeom prst="roundRect">
            <a:avLst/>
          </a:prstGeom>
          <a:solidFill>
            <a:srgbClr val="2B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0" y="3003804"/>
            <a:ext cx="1334950" cy="219456"/>
          </a:xfrm>
          <a:prstGeom prst="roundRect">
            <a:avLst/>
          </a:prstGeom>
          <a:solidFill>
            <a:srgbClr val="58B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83112" y="2971800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8FAFD"/>
                </a:solidFill>
                <a:latin typeface="Aptos"/>
              </a:rPr>
              <a:t>18.96%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813048"/>
            <a:ext cx="12984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AFD"/>
                </a:solidFill>
                <a:latin typeface="Aptos"/>
              </a:rPr>
              <a:t>No internet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3826763"/>
            <a:ext cx="3520440" cy="219456"/>
          </a:xfrm>
          <a:prstGeom prst="roundRect">
            <a:avLst/>
          </a:prstGeom>
          <a:solidFill>
            <a:srgbClr val="2B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89520" y="3826763"/>
            <a:ext cx="521025" cy="219456"/>
          </a:xfrm>
          <a:prstGeom prst="roundRect">
            <a:avLst/>
          </a:prstGeom>
          <a:solidFill>
            <a:srgbClr val="58B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83112" y="3794760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8FAFD"/>
                </a:solidFill>
                <a:latin typeface="Aptos"/>
              </a:rPr>
              <a:t>7.40%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623560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AFD"/>
                </a:solidFill>
                <a:latin typeface="Aptos"/>
              </a:rPr>
              <a:t>Action: strengthen first-year onboarding and review fiber customers’ service quality, pricing, support and competitor concerns.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CD1"/>
                </a:solidFill>
                <a:latin typeface="Aptos"/>
              </a:rPr>
              <a:t>Customer Churn Analysis  •  SQL + Python + Power BI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3BEAA"/>
                </a:solidFill>
                <a:latin typeface="Aptos"/>
              </a:rPr>
              <a:t>09 / VOICE OF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D"/>
                </a:solidFill>
                <a:latin typeface="Aptos"/>
              </a:rPr>
              <a:t>Finding 3: understand the stated reasons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98448"/>
            <a:ext cx="68580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EBCD1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106070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EBCD1"/>
                </a:solidFill>
                <a:latin typeface="Aptos"/>
              </a:rPr>
              <a:t>The project examines reported churn reasons among customers labelled as churned.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423160"/>
            <a:ext cx="5074920" cy="1078992"/>
          </a:xfrm>
          <a:prstGeom prst="roundRect">
            <a:avLst/>
          </a:prstGeom>
          <a:solidFill>
            <a:srgbClr val="1A2B48"/>
          </a:solidFill>
          <a:ln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587752"/>
            <a:ext cx="4572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3BEAA"/>
                </a:solidFill>
                <a:latin typeface="Aptos"/>
              </a:rPr>
              <a:t>Competitor offers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953512"/>
            <a:ext cx="4572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EBCD1"/>
                </a:solidFill>
                <a:latin typeface="Aptos"/>
              </a:rPr>
              <a:t>Review counter-offers and competitive positioning.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2423160"/>
            <a:ext cx="5074920" cy="1078992"/>
          </a:xfrm>
          <a:prstGeom prst="roundRect">
            <a:avLst/>
          </a:prstGeom>
          <a:solidFill>
            <a:srgbClr val="1A2B48"/>
          </a:solidFill>
          <a:ln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2587752"/>
            <a:ext cx="4572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8BEE1"/>
                </a:solidFill>
                <a:latin typeface="Aptos"/>
              </a:rPr>
              <a:t>Price concerns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953512"/>
            <a:ext cx="4572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EBCD1"/>
                </a:solidFill>
                <a:latin typeface="Aptos"/>
              </a:rPr>
              <a:t>Assess affordability and perceived 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840480"/>
            <a:ext cx="5074920" cy="1078992"/>
          </a:xfrm>
          <a:prstGeom prst="roundRect">
            <a:avLst/>
          </a:prstGeom>
          <a:solidFill>
            <a:srgbClr val="1A2B48"/>
          </a:solidFill>
          <a:ln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005072"/>
            <a:ext cx="4572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3BEAA"/>
                </a:solidFill>
                <a:latin typeface="Aptos"/>
              </a:rPr>
              <a:t>Service / support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4370832"/>
            <a:ext cx="4572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EBCD1"/>
                </a:solidFill>
                <a:latin typeface="Aptos"/>
              </a:rPr>
              <a:t>Investigate repeated complaints and support quality.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3840480"/>
            <a:ext cx="5074920" cy="1078992"/>
          </a:xfrm>
          <a:prstGeom prst="roundRect">
            <a:avLst/>
          </a:prstGeom>
          <a:solidFill>
            <a:srgbClr val="1A2B48"/>
          </a:solidFill>
          <a:ln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4005072"/>
            <a:ext cx="4572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8BEE1"/>
                </a:solidFill>
                <a:latin typeface="Aptos"/>
              </a:rPr>
              <a:t>Network / product dissatisfaction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4370832"/>
            <a:ext cx="4572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EBCD1"/>
                </a:solidFill>
                <a:latin typeface="Aptos"/>
              </a:rPr>
              <a:t>Prioritize reliability and product feedback.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596128"/>
            <a:ext cx="106070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BE5B"/>
                </a:solidFill>
                <a:latin typeface="Aptos"/>
              </a:rPr>
              <a:t>These are grouped themes from the README’s listed reason categories; validate detailed rankings against the SQL results before presenting a ranked list.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CD1"/>
                </a:solidFill>
                <a:latin typeface="Aptos"/>
              </a:rPr>
              <a:t>Customer Churn Analysis  •  SQL + Python + Power BI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3BEAA"/>
                </a:solidFill>
                <a:latin typeface="Aptos"/>
              </a:rPr>
              <a:t>10 /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D"/>
                </a:solidFill>
                <a:latin typeface="Aptos"/>
              </a:rPr>
              <a:t>Power BI: an interactive decision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98448"/>
            <a:ext cx="68580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EBCD1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104241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D"/>
                </a:solidFill>
                <a:latin typeface="Aptos"/>
              </a:rPr>
              <a:t>Dashboard components documented in the project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167128"/>
            <a:ext cx="310896" cy="310896"/>
          </a:xfrm>
          <a:prstGeom prst="ellipse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148840"/>
            <a:ext cx="2286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AFD"/>
                </a:solidFill>
                <a:latin typeface="Aptos"/>
              </a:rPr>
              <a:t>KPI 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148840"/>
            <a:ext cx="69494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EBCD1"/>
                </a:solidFill>
                <a:latin typeface="Aptos"/>
              </a:rPr>
              <a:t>Total customers • Churned customers • Churn rate • Retention rate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944368"/>
            <a:ext cx="310896" cy="310896"/>
          </a:xfrm>
          <a:prstGeom prst="ellipse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2286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AFD"/>
                </a:solidFill>
                <a:latin typeface="Aptos"/>
              </a:rPr>
              <a:t>Segment comparisons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926080"/>
            <a:ext cx="69494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EBCD1"/>
                </a:solidFill>
                <a:latin typeface="Aptos"/>
              </a:rPr>
              <a:t>Churn by contract • Internet service • Tenure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721607"/>
            <a:ext cx="310896" cy="310896"/>
          </a:xfrm>
          <a:prstGeom prst="ellipse">
            <a:avLst/>
          </a:prstGeom>
          <a:solidFill>
            <a:srgbClr val="58B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703320"/>
            <a:ext cx="2286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AFD"/>
                </a:solidFill>
                <a:latin typeface="Aptos"/>
              </a:rPr>
              <a:t>Reason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703320"/>
            <a:ext cx="69494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EBCD1"/>
                </a:solidFill>
                <a:latin typeface="Aptos"/>
              </a:rPr>
              <a:t>Top churn reasons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498848"/>
            <a:ext cx="310896" cy="310896"/>
          </a:xfrm>
          <a:prstGeom prst="ellipse">
            <a:avLst/>
          </a:prstGeom>
          <a:solidFill>
            <a:srgbClr val="58B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480560"/>
            <a:ext cx="2286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AFD"/>
                </a:solidFill>
                <a:latin typeface="Aptos"/>
              </a:rPr>
              <a:t>Exploration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480560"/>
            <a:ext cx="69494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EBCD1"/>
                </a:solidFill>
                <a:latin typeface="Aptos"/>
              </a:rPr>
              <a:t>Customer filtering with slicers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623560"/>
            <a:ext cx="106070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3BEAA"/>
                </a:solidFill>
                <a:latin typeface="Aptos"/>
              </a:rPr>
              <a:t>Purpose: move from headline KPIs to the segments that merit further investigation.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CD1"/>
                </a:solidFill>
                <a:latin typeface="Aptos"/>
              </a:rPr>
              <a:t>Customer Churn Analysis  •  SQL + Python + Power BI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3BEAA"/>
                </a:solidFill>
                <a:latin typeface="Aptos"/>
              </a:rPr>
              <a:t>11 / FROM INSIGHT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D"/>
                </a:solidFill>
                <a:latin typeface="Aptos"/>
              </a:rPr>
              <a:t>Recommendations for retention teams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98448"/>
            <a:ext cx="68580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EBCD1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3BEAA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91640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AFD"/>
                </a:solidFill>
                <a:latin typeface="Aptos"/>
              </a:rPr>
              <a:t>Improve first-year 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691640"/>
            <a:ext cx="6583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EBCD1"/>
                </a:solidFill>
                <a:latin typeface="Aptos"/>
              </a:rPr>
              <a:t>Proactive check-ins, setup guidance and early support.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194560"/>
            <a:ext cx="9326880" cy="10972"/>
          </a:xfrm>
          <a:prstGeom prst="rect">
            <a:avLst/>
          </a:prstGeom>
          <a:solidFill>
            <a:srgbClr val="314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3BEAA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514600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AFD"/>
                </a:solidFill>
                <a:latin typeface="Aptos"/>
              </a:rPr>
              <a:t>Investigate month-to-month churn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514600"/>
            <a:ext cx="6583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EBCD1"/>
                </a:solidFill>
                <a:latin typeface="Aptos"/>
              </a:rPr>
              <a:t>Review pricing, perceived value and contract options.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3017520"/>
            <a:ext cx="9326880" cy="10972"/>
          </a:xfrm>
          <a:prstGeom prst="rect">
            <a:avLst/>
          </a:prstGeom>
          <a:solidFill>
            <a:srgbClr val="314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3BEAA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337560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AFD"/>
                </a:solidFill>
                <a:latin typeface="Aptos"/>
              </a:rPr>
              <a:t>Review fiber customer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337560"/>
            <a:ext cx="6583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EBCD1"/>
                </a:solidFill>
                <a:latin typeface="Aptos"/>
              </a:rPr>
              <a:t>Check reliability, support interactions and competitor comparisons.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840480"/>
            <a:ext cx="9326880" cy="10972"/>
          </a:xfrm>
          <a:prstGeom prst="rect">
            <a:avLst/>
          </a:prstGeom>
          <a:solidFill>
            <a:srgbClr val="314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3BEAA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60520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AFD"/>
                </a:solidFill>
                <a:latin typeface="Aptos"/>
              </a:rPr>
              <a:t>Close recurring service gaps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160520"/>
            <a:ext cx="6583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EBCD1"/>
                </a:solidFill>
                <a:latin typeface="Aptos"/>
              </a:rPr>
              <a:t>Use reported reasons to prioritize fixes and service recovery.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4663440"/>
            <a:ext cx="9326880" cy="10972"/>
          </a:xfrm>
          <a:prstGeom prst="rect">
            <a:avLst/>
          </a:prstGeom>
          <a:solidFill>
            <a:srgbClr val="314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98348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3BEAA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983480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AFD"/>
                </a:solidFill>
                <a:latin typeface="Aptos"/>
              </a:rPr>
              <a:t>Protect high-value relationships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983480"/>
            <a:ext cx="6583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EBCD1"/>
                </a:solidFill>
                <a:latin typeface="Aptos"/>
              </a:rPr>
              <a:t>Monitor CLTV alongside churn signals and customer needs.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CD1"/>
                </a:solidFill>
                <a:latin typeface="Aptos"/>
              </a:rPr>
              <a:t>Customer Churn Analysis  •  SQL + Python + Power BI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3BEAA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804672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F8FAFD"/>
                </a:solidFill>
                <a:latin typeface="Aptos"/>
              </a:rPr>
              <a:t>Make churn visible.
Make retention targeted.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880360"/>
            <a:ext cx="80467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AEBCD1"/>
                </a:solidFill>
                <a:latin typeface="Aptos"/>
              </a:rPr>
              <a:t>The project combines SQL analysis, Python EDA and Power BI reporting to move from customer records to practical retention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1371600"/>
            <a:ext cx="2606040" cy="1325880"/>
          </a:xfrm>
          <a:prstGeom prst="roundRect">
            <a:avLst/>
          </a:prstGeom>
          <a:solidFill>
            <a:srgbClr val="1A2B48"/>
          </a:solidFill>
          <a:ln>
            <a:solidFill>
              <a:srgbClr val="34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59952" y="1536192"/>
            <a:ext cx="54864" cy="996695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33688" y="1554480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EBCD1"/>
                </a:solidFill>
                <a:latin typeface="Aptos"/>
              </a:rPr>
              <a:t>DATASET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33688" y="1938528"/>
            <a:ext cx="22402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8FAFD"/>
                </a:solidFill>
                <a:latin typeface="Aptos"/>
              </a:rPr>
              <a:t>7,043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33688" y="2258568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EBCD1"/>
                </a:solidFill>
                <a:latin typeface="Aptos"/>
              </a:rPr>
              <a:t>customers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2971800"/>
            <a:ext cx="2606040" cy="1325880"/>
          </a:xfrm>
          <a:prstGeom prst="roundRect">
            <a:avLst/>
          </a:prstGeom>
          <a:solidFill>
            <a:srgbClr val="1A2B48"/>
          </a:solidFill>
          <a:ln>
            <a:solidFill>
              <a:srgbClr val="34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59952" y="3136392"/>
            <a:ext cx="54864" cy="996695"/>
          </a:xfrm>
          <a:prstGeom prst="rect">
            <a:avLst/>
          </a:prstGeom>
          <a:solidFill>
            <a:srgbClr val="F57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33688" y="3154680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EBCD1"/>
                </a:solidFill>
                <a:latin typeface="Aptos"/>
              </a:rPr>
              <a:t>CHURN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3688" y="3538728"/>
            <a:ext cx="22402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8FAFD"/>
                </a:solidFill>
                <a:latin typeface="Aptos"/>
              </a:rPr>
              <a:t>26.54%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88" y="3858768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EBCD1"/>
                </a:solidFill>
                <a:latin typeface="Aptos"/>
              </a:rPr>
              <a:t>overall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709160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3BEAA"/>
                </a:solidFill>
                <a:latin typeface="Aptos"/>
              </a:rPr>
              <a:t>PROJECT LINKS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074920"/>
            <a:ext cx="10607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8FAFD"/>
                </a:solidFill>
                <a:latin typeface="Aptos"/>
              </a:rPr>
              <a:t>Repository: https://github.com/harsha588/Customer-Churn-Analysis-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5440680"/>
            <a:ext cx="10789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CD1"/>
                </a:solidFill>
                <a:latin typeface="Aptos"/>
              </a:rPr>
              <a:t>Dataset: https://www.kaggle.com/datasets/yeanzc/telco-customer-churn-ibm-dataset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6172200"/>
            <a:ext cx="27432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3BEAA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</dc:title>
  <dc:subject>SQL, Python EDA and Power BI project presentation</dc:subject>
  <dc:creator>Harsha R M</dc:creator>
  <cp:keywords>Customer churn, SQL, Python, Power BI, Telco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